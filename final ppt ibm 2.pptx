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9EFF29"/>
    <a:srgbClr val="C80064"/>
    <a:srgbClr val="C33A1F"/>
    <a:srgbClr val="0000CC"/>
    <a:srgbClr val="FF2549"/>
    <a:srgbClr val="007033"/>
    <a:srgbClr val="D6370C"/>
    <a:srgbClr val="1D3A00"/>
    <a:srgbClr val="FF8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7703" y="1784556"/>
            <a:ext cx="8229600" cy="1688688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328" y="3694468"/>
            <a:ext cx="8229600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433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12606"/>
            <a:ext cx="8246070" cy="346587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106" y="406537"/>
            <a:ext cx="6283782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20136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92" y="271648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655517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127914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655517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127914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949" y="1895168"/>
            <a:ext cx="8192728" cy="1445337"/>
          </a:xfrm>
        </p:spPr>
        <p:txBody>
          <a:bodyPr>
            <a:normAutofit/>
          </a:bodyPr>
          <a:lstStyle/>
          <a:p>
            <a:r>
              <a:rPr lang="en-US" sz="1800" dirty="0"/>
              <a:t>Salary Prediction using Linear Regression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8CED447-F58C-6016-03FD-2542654BD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3360" y="3694468"/>
            <a:ext cx="4626568" cy="678426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Using Machine Learning to Predict Employee Salary Based on Experience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0131" y="255597"/>
            <a:ext cx="7601345" cy="768217"/>
          </a:xfrm>
        </p:spPr>
        <p:txBody>
          <a:bodyPr>
            <a:noAutofit/>
          </a:bodyPr>
          <a:lstStyle/>
          <a:p>
            <a:r>
              <a:rPr lang="en-IN" sz="4000" dirty="0"/>
              <a:t>Problem Statement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F34908-96CB-B014-3F97-FED9A168B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Predicting employee salaries is a common challenge for companies.</a:t>
            </a:r>
            <a:br>
              <a:rPr lang="en-US" dirty="0"/>
            </a:br>
            <a:r>
              <a:rPr lang="en-US" dirty="0"/>
              <a:t>HR departments need to estimate the correct salary for new employees based on their experience, but manual estimation is often inaccurate and inconsistent.</a:t>
            </a:r>
          </a:p>
          <a:p>
            <a:pPr marL="0" indent="0">
              <a:buNone/>
            </a:pPr>
            <a:r>
              <a:rPr lang="en-US" dirty="0"/>
              <a:t>There is a need for a </a:t>
            </a:r>
            <a:r>
              <a:rPr lang="en-US" b="1" dirty="0"/>
              <a:t>simple, data-driven model</a:t>
            </a:r>
            <a:r>
              <a:rPr lang="en-US" dirty="0"/>
              <a:t> that can help automate this prediction process and reduce errors, saving both time and resources for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5885-B271-9F31-6F4E-8845CB99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6D97-87D8-5BA3-E459-C839AD20F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131" y="255597"/>
            <a:ext cx="7601345" cy="768217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Objective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A67406-C2FD-5B34-3387-C3FBCA84B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main objective of this project is to build a </a:t>
            </a:r>
            <a:r>
              <a:rPr lang="en-US" b="1" dirty="0"/>
              <a:t>simple and accurate machine learning model</a:t>
            </a:r>
            <a:r>
              <a:rPr lang="en-US" dirty="0"/>
              <a:t> using </a:t>
            </a:r>
            <a:r>
              <a:rPr lang="en-US" b="1" dirty="0"/>
              <a:t>Linear Regression</a:t>
            </a:r>
            <a:r>
              <a:rPr lang="en-US" dirty="0"/>
              <a:t> that can:</a:t>
            </a:r>
          </a:p>
          <a:p>
            <a:pPr marL="0" indent="0">
              <a:buNone/>
            </a:pPr>
            <a:r>
              <a:rPr lang="en-US" dirty="0"/>
              <a:t>Analyze past salary records</a:t>
            </a:r>
          </a:p>
          <a:p>
            <a:pPr marL="0" indent="0">
              <a:buNone/>
            </a:pPr>
            <a:r>
              <a:rPr lang="en-US" dirty="0"/>
              <a:t>Understand the relationship between </a:t>
            </a:r>
            <a:r>
              <a:rPr lang="en-US" b="1" dirty="0"/>
              <a:t>years of experience</a:t>
            </a:r>
            <a:r>
              <a:rPr lang="en-US" dirty="0"/>
              <a:t> and </a:t>
            </a:r>
            <a:r>
              <a:rPr lang="en-US" b="1" dirty="0"/>
              <a:t>salary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Predict the salary of an employee based on their experience</a:t>
            </a:r>
          </a:p>
          <a:p>
            <a:pPr marL="0" indent="0">
              <a:buNone/>
            </a:pPr>
            <a:r>
              <a:rPr lang="en-US" dirty="0"/>
              <a:t>Help organizations make smarter, data-based decisions</a:t>
            </a:r>
          </a:p>
          <a:p>
            <a:pPr marL="0" indent="0">
              <a:buNone/>
            </a:pPr>
            <a:r>
              <a:rPr lang="en-US" dirty="0"/>
              <a:t>This project also aims to help beginners understand basic machine learning concepts.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343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BF28-B421-2A58-8768-0D887BEA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53E6-786D-F2A0-2FF2-8ED7C29BD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131" y="255597"/>
            <a:ext cx="7601345" cy="768217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Methodology </a:t>
            </a:r>
            <a:endParaRPr lang="en-US" sz="4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7A12EB-420A-5FDA-9FA0-D161D6BEA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714" y="1198882"/>
            <a:ext cx="868028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Collection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dataset containing two columns —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YearsExperience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Salary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was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Preprocessing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was checked for missing values and converted into suitable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Selection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Linear Regression was chosen because it is simple, fast, and perfect for numerical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Training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model learns patterns from the dataset and creates a best-fit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Testing &amp; Prediction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trained model is tested to predict salary for different experience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Visualization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graph is plotted to show the relationship between experience and salary.</a:t>
            </a:r>
          </a:p>
        </p:txBody>
      </p:sp>
    </p:spTree>
    <p:extLst>
      <p:ext uri="{BB962C8B-B14F-4D97-AF65-F5344CB8AC3E}">
        <p14:creationId xmlns:p14="http://schemas.microsoft.com/office/powerpoint/2010/main" val="129842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D8CE-8501-6D23-1FDA-354B1C3F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EDE8-848D-7021-BAF6-EA561A6E3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131" y="255597"/>
            <a:ext cx="7601345" cy="768217"/>
          </a:xfrm>
        </p:spPr>
        <p:txBody>
          <a:bodyPr>
            <a:noAutofit/>
          </a:bodyPr>
          <a:lstStyle/>
          <a:p>
            <a:r>
              <a:rPr lang="en-IN" sz="4000" dirty="0"/>
              <a:t>Tools &amp; Technologies</a:t>
            </a:r>
            <a:endParaRPr lang="en-US" sz="4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0029191-7840-E45A-AC40-C1F33B35FE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714" y="1198882"/>
            <a:ext cx="868028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Programming Language:</a:t>
            </a:r>
          </a:p>
          <a:p>
            <a:pPr marL="0" indent="0">
              <a:buNone/>
            </a:pPr>
            <a:r>
              <a:rPr lang="en-IN" sz="1800" dirty="0"/>
              <a:t>        Python</a:t>
            </a:r>
          </a:p>
          <a:p>
            <a:r>
              <a:rPr lang="en-IN" sz="1800" b="1" dirty="0"/>
              <a:t>Libraries Used:</a:t>
            </a:r>
          </a:p>
          <a:p>
            <a:pPr marL="0" indent="0">
              <a:buNone/>
            </a:pPr>
            <a:r>
              <a:rPr lang="en-IN" sz="1800" b="1" dirty="0"/>
              <a:t>        NumPy:</a:t>
            </a:r>
            <a:r>
              <a:rPr lang="en-IN" sz="1800" dirty="0"/>
              <a:t> Mathematical operations</a:t>
            </a:r>
          </a:p>
          <a:p>
            <a:r>
              <a:rPr lang="en-IN" sz="1800" b="1" dirty="0"/>
              <a:t>Pandas:</a:t>
            </a:r>
            <a:r>
              <a:rPr lang="en-IN" sz="1800" dirty="0"/>
              <a:t> Data handling and analysis</a:t>
            </a:r>
          </a:p>
          <a:p>
            <a:r>
              <a:rPr lang="en-IN" sz="1800" b="1" dirty="0"/>
              <a:t>Matplotlib:</a:t>
            </a:r>
            <a:r>
              <a:rPr lang="en-IN" sz="1800" dirty="0"/>
              <a:t> Creating graphs and visualizations</a:t>
            </a:r>
          </a:p>
          <a:p>
            <a:r>
              <a:rPr lang="en-IN" sz="1800" b="1" dirty="0"/>
              <a:t>Scikit-learn:</a:t>
            </a:r>
            <a:r>
              <a:rPr lang="en-IN" sz="1800" dirty="0"/>
              <a:t> Machine learning model (Linear Regression)</a:t>
            </a:r>
          </a:p>
          <a:p>
            <a:r>
              <a:rPr lang="en-IN" sz="1800" b="1" dirty="0"/>
              <a:t>Platform Used:</a:t>
            </a:r>
          </a:p>
          <a:p>
            <a:pPr marL="0" indent="0">
              <a:buNone/>
            </a:pPr>
            <a:r>
              <a:rPr lang="en-IN" sz="1800" dirty="0"/>
              <a:t>        Google Colab Notebook (Cloud-based, no installation needed)</a:t>
            </a:r>
          </a:p>
          <a:p>
            <a:r>
              <a:rPr lang="en-IN" sz="1800" b="1" dirty="0"/>
              <a:t>Algorithm:</a:t>
            </a:r>
          </a:p>
          <a:p>
            <a:pPr marL="0" indent="0">
              <a:buNone/>
            </a:pPr>
            <a:r>
              <a:rPr lang="en-IN" sz="1800" b="1" dirty="0"/>
              <a:t>        Linear Regression</a:t>
            </a:r>
            <a:r>
              <a:rPr lang="en-IN" sz="1800" dirty="0"/>
              <a:t> — predicts continuous numerical values</a:t>
            </a:r>
          </a:p>
        </p:txBody>
      </p:sp>
    </p:spTree>
    <p:extLst>
      <p:ext uri="{BB962C8B-B14F-4D97-AF65-F5344CB8AC3E}">
        <p14:creationId xmlns:p14="http://schemas.microsoft.com/office/powerpoint/2010/main" val="85650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C8D9D-E9D5-C536-5C19-82D968F6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F926-21C5-0286-717D-6FAB79F3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131" y="255597"/>
            <a:ext cx="7601345" cy="768217"/>
          </a:xfrm>
        </p:spPr>
        <p:txBody>
          <a:bodyPr>
            <a:noAutofit/>
          </a:bodyPr>
          <a:lstStyle/>
          <a:p>
            <a:r>
              <a:rPr lang="en-IN" dirty="0"/>
              <a:t>Expected Output / Results</a:t>
            </a:r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690ED5-2447-D56C-4F8B-C18B499A27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337461"/>
            <a:ext cx="84718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Linear Regression model learns the relationship between experience and salary.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system predicts salary accurately for new experience inputs.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graph shows a straight line representing the salary trend.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HR teams or companies can use this model to estimate fair and consistent salaries.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project demonstrates how machine learning can be used in simple business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4272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CAB42-CE0F-383B-3BA9-A34B2560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B82F-9DE6-CA54-FDE0-95B1F73B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175" y="255597"/>
            <a:ext cx="4983301" cy="768217"/>
          </a:xfrm>
        </p:spPr>
        <p:txBody>
          <a:bodyPr>
            <a:noAutofit/>
          </a:bodyPr>
          <a:lstStyle/>
          <a:p>
            <a:r>
              <a:rPr lang="en-IN" sz="2400" dirty="0"/>
              <a:t>Code Snippet 1 (Importing Libraries)</a:t>
            </a:r>
            <a:endParaRPr lang="en-US" sz="240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8C44EF4-1373-FE0D-4FFD-2094001003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98500"/>
            <a:ext cx="89943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import pandas as pd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# Creating a simple salary dataset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data = 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    "</a:t>
            </a:r>
            <a:r>
              <a:rPr lang="en-US" altLang="en-US" sz="1200" dirty="0" err="1">
                <a:latin typeface="Arial" panose="020B0604020202020204" pitchFamily="34" charset="0"/>
              </a:rPr>
              <a:t>YearsExperience</a:t>
            </a:r>
            <a:r>
              <a:rPr lang="en-US" altLang="en-US" sz="1200" dirty="0">
                <a:latin typeface="Arial" panose="020B0604020202020204" pitchFamily="34" charset="0"/>
              </a:rPr>
              <a:t>": [1, 2, 3, 4, 5],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    "Salary": [35000, 40000, 45000, 50000, 60000]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}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err="1">
                <a:latin typeface="Arial" panose="020B0604020202020204" pitchFamily="34" charset="0"/>
              </a:rPr>
              <a:t>df</a:t>
            </a:r>
            <a:r>
              <a:rPr lang="en-US" altLang="en-US" sz="1200" dirty="0">
                <a:latin typeface="Arial" panose="020B0604020202020204" pitchFamily="34" charset="0"/>
              </a:rPr>
              <a:t> = </a:t>
            </a:r>
            <a:r>
              <a:rPr lang="en-US" altLang="en-US" sz="1200" dirty="0" err="1">
                <a:latin typeface="Arial" panose="020B0604020202020204" pitchFamily="34" charset="0"/>
              </a:rPr>
              <a:t>pd.DataFrame</a:t>
            </a:r>
            <a:r>
              <a:rPr lang="en-US" altLang="en-US" sz="1200" dirty="0">
                <a:latin typeface="Arial" panose="020B0604020202020204" pitchFamily="34" charset="0"/>
              </a:rPr>
              <a:t>(data)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err="1">
                <a:latin typeface="Arial" panose="020B0604020202020204" pitchFamily="34" charset="0"/>
              </a:rPr>
              <a:t>df.to_csv</a:t>
            </a:r>
            <a:r>
              <a:rPr lang="en-US" altLang="en-US" sz="1200" dirty="0">
                <a:latin typeface="Arial" panose="020B0604020202020204" pitchFamily="34" charset="0"/>
              </a:rPr>
              <a:t>("salary_data.csv", index=False)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err="1">
                <a:latin typeface="Arial" panose="020B0604020202020204" pitchFamily="34" charset="0"/>
              </a:rPr>
              <a:t>Df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6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F3C00-806D-C32C-A5B6-73BE7215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7DEB-A609-8608-E033-28B102F3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913" y="255597"/>
            <a:ext cx="5415563" cy="768217"/>
          </a:xfrm>
        </p:spPr>
        <p:txBody>
          <a:bodyPr>
            <a:noAutofit/>
          </a:bodyPr>
          <a:lstStyle/>
          <a:p>
            <a:pPr algn="ctr"/>
            <a:r>
              <a:rPr lang="en-IN" sz="1600" dirty="0"/>
              <a:t>Code Snippet 2(</a:t>
            </a:r>
            <a:r>
              <a:rPr lang="en-US" sz="1600" dirty="0"/>
              <a:t>Splitting Data &amp; Training the Model)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756A423-2FD1-0A7B-44E8-31EB932FBC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29168"/>
            <a:ext cx="899437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import pandas as pd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from </a:t>
            </a:r>
            <a:r>
              <a:rPr lang="en-US" altLang="en-US" sz="1200" dirty="0" err="1">
                <a:latin typeface="Arial" panose="020B0604020202020204" pitchFamily="34" charset="0"/>
              </a:rPr>
              <a:t>sklearn.model_selection</a:t>
            </a:r>
            <a:r>
              <a:rPr lang="en-US" altLang="en-US" sz="1200" dirty="0">
                <a:latin typeface="Arial" panose="020B0604020202020204" pitchFamily="34" charset="0"/>
              </a:rPr>
              <a:t> import </a:t>
            </a:r>
            <a:r>
              <a:rPr lang="en-US" altLang="en-US" sz="1200" dirty="0" err="1">
                <a:latin typeface="Arial" panose="020B0604020202020204" pitchFamily="34" charset="0"/>
              </a:rPr>
              <a:t>train_test_split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from </a:t>
            </a:r>
            <a:r>
              <a:rPr lang="en-US" altLang="en-US" sz="1200" dirty="0" err="1">
                <a:latin typeface="Arial" panose="020B0604020202020204" pitchFamily="34" charset="0"/>
              </a:rPr>
              <a:t>sklearn.linear_model</a:t>
            </a:r>
            <a:r>
              <a:rPr lang="en-US" altLang="en-US" sz="1200" dirty="0">
                <a:latin typeface="Arial" panose="020B0604020202020204" pitchFamily="34" charset="0"/>
              </a:rPr>
              <a:t> import </a:t>
            </a:r>
            <a:r>
              <a:rPr lang="en-US" altLang="en-US" sz="1200" dirty="0" err="1">
                <a:latin typeface="Arial" panose="020B0604020202020204" pitchFamily="34" charset="0"/>
              </a:rPr>
              <a:t>LinearRegression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err="1">
                <a:latin typeface="Arial" panose="020B0604020202020204" pitchFamily="34" charset="0"/>
              </a:rPr>
              <a:t>df</a:t>
            </a:r>
            <a:r>
              <a:rPr lang="en-US" altLang="en-US" sz="1200" dirty="0">
                <a:latin typeface="Arial" panose="020B0604020202020204" pitchFamily="34" charset="0"/>
              </a:rPr>
              <a:t> = </a:t>
            </a:r>
            <a:r>
              <a:rPr lang="en-US" altLang="en-US" sz="1200" dirty="0" err="1">
                <a:latin typeface="Arial" panose="020B0604020202020204" pitchFamily="34" charset="0"/>
              </a:rPr>
              <a:t>pd.read_csv</a:t>
            </a:r>
            <a:r>
              <a:rPr lang="en-US" altLang="en-US" sz="1200" dirty="0">
                <a:latin typeface="Arial" panose="020B0604020202020204" pitchFamily="34" charset="0"/>
              </a:rPr>
              <a:t>("salary_data.csv")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X = </a:t>
            </a:r>
            <a:r>
              <a:rPr lang="en-US" altLang="en-US" sz="1200" dirty="0" err="1">
                <a:latin typeface="Arial" panose="020B0604020202020204" pitchFamily="34" charset="0"/>
              </a:rPr>
              <a:t>df</a:t>
            </a:r>
            <a:r>
              <a:rPr lang="en-US" altLang="en-US" sz="1200" dirty="0">
                <a:latin typeface="Arial" panose="020B0604020202020204" pitchFamily="34" charset="0"/>
              </a:rPr>
              <a:t>[["</a:t>
            </a:r>
            <a:r>
              <a:rPr lang="en-US" altLang="en-US" sz="1200" dirty="0" err="1">
                <a:latin typeface="Arial" panose="020B0604020202020204" pitchFamily="34" charset="0"/>
              </a:rPr>
              <a:t>YearsExperience</a:t>
            </a:r>
            <a:r>
              <a:rPr lang="en-US" altLang="en-US" sz="1200" dirty="0">
                <a:latin typeface="Arial" panose="020B0604020202020204" pitchFamily="34" charset="0"/>
              </a:rPr>
              <a:t>"]]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y = </a:t>
            </a:r>
            <a:r>
              <a:rPr lang="en-US" altLang="en-US" sz="1200" dirty="0" err="1">
                <a:latin typeface="Arial" panose="020B0604020202020204" pitchFamily="34" charset="0"/>
              </a:rPr>
              <a:t>df</a:t>
            </a:r>
            <a:r>
              <a:rPr lang="en-US" altLang="en-US" sz="1200" dirty="0">
                <a:latin typeface="Arial" panose="020B0604020202020204" pitchFamily="34" charset="0"/>
              </a:rPr>
              <a:t>["Salary"]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err="1">
                <a:latin typeface="Arial" panose="020B0604020202020204" pitchFamily="34" charset="0"/>
              </a:rPr>
              <a:t>X_train</a:t>
            </a:r>
            <a:r>
              <a:rPr lang="en-US" altLang="en-US" sz="1200" dirty="0">
                <a:latin typeface="Arial" panose="020B0604020202020204" pitchFamily="34" charset="0"/>
              </a:rPr>
              <a:t>, </a:t>
            </a:r>
            <a:r>
              <a:rPr lang="en-US" altLang="en-US" sz="1200" dirty="0" err="1">
                <a:latin typeface="Arial" panose="020B0604020202020204" pitchFamily="34" charset="0"/>
              </a:rPr>
              <a:t>X_test</a:t>
            </a:r>
            <a:r>
              <a:rPr lang="en-US" altLang="en-US" sz="1200" dirty="0">
                <a:latin typeface="Arial" panose="020B0604020202020204" pitchFamily="34" charset="0"/>
              </a:rPr>
              <a:t>, </a:t>
            </a:r>
            <a:r>
              <a:rPr lang="en-US" altLang="en-US" sz="1200" dirty="0" err="1">
                <a:latin typeface="Arial" panose="020B0604020202020204" pitchFamily="34" charset="0"/>
              </a:rPr>
              <a:t>y_train</a:t>
            </a:r>
            <a:r>
              <a:rPr lang="en-US" altLang="en-US" sz="1200" dirty="0">
                <a:latin typeface="Arial" panose="020B0604020202020204" pitchFamily="34" charset="0"/>
              </a:rPr>
              <a:t>, </a:t>
            </a:r>
            <a:r>
              <a:rPr lang="en-US" altLang="en-US" sz="1200" dirty="0" err="1">
                <a:latin typeface="Arial" panose="020B0604020202020204" pitchFamily="34" charset="0"/>
              </a:rPr>
              <a:t>y_test</a:t>
            </a:r>
            <a:r>
              <a:rPr lang="en-US" altLang="en-US" sz="1200" dirty="0">
                <a:latin typeface="Arial" panose="020B0604020202020204" pitchFamily="34" charset="0"/>
              </a:rPr>
              <a:t> = </a:t>
            </a:r>
            <a:r>
              <a:rPr lang="en-US" altLang="en-US" sz="1200" dirty="0" err="1">
                <a:latin typeface="Arial" panose="020B0604020202020204" pitchFamily="34" charset="0"/>
              </a:rPr>
              <a:t>train_test_split</a:t>
            </a:r>
            <a:r>
              <a:rPr lang="en-US" altLang="en-US" sz="1200" dirty="0">
                <a:latin typeface="Arial" panose="020B0604020202020204" pitchFamily="34" charset="0"/>
              </a:rPr>
              <a:t>(X, y, </a:t>
            </a:r>
            <a:r>
              <a:rPr lang="en-US" altLang="en-US" sz="1200" dirty="0" err="1">
                <a:latin typeface="Arial" panose="020B0604020202020204" pitchFamily="34" charset="0"/>
              </a:rPr>
              <a:t>test_size</a:t>
            </a:r>
            <a:r>
              <a:rPr lang="en-US" altLang="en-US" sz="1200" dirty="0">
                <a:latin typeface="Arial" panose="020B0604020202020204" pitchFamily="34" charset="0"/>
              </a:rPr>
              <a:t>=0.2)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model = </a:t>
            </a:r>
            <a:r>
              <a:rPr lang="en-US" altLang="en-US" sz="1200" dirty="0" err="1">
                <a:latin typeface="Arial" panose="020B0604020202020204" pitchFamily="34" charset="0"/>
              </a:rPr>
              <a:t>LinearRegression</a:t>
            </a:r>
            <a:r>
              <a:rPr lang="en-US" altLang="en-US" sz="1200" dirty="0">
                <a:latin typeface="Arial" panose="020B0604020202020204" pitchFamily="34" charset="0"/>
              </a:rPr>
              <a:t>()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err="1">
                <a:latin typeface="Arial" panose="020B0604020202020204" pitchFamily="34" charset="0"/>
              </a:rPr>
              <a:t>model.fit</a:t>
            </a:r>
            <a:r>
              <a:rPr lang="en-US" altLang="en-US" sz="1200" dirty="0"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latin typeface="Arial" panose="020B0604020202020204" pitchFamily="34" charset="0"/>
              </a:rPr>
              <a:t>X_train</a:t>
            </a:r>
            <a:r>
              <a:rPr lang="en-US" altLang="en-US" sz="1200" dirty="0">
                <a:latin typeface="Arial" panose="020B0604020202020204" pitchFamily="34" charset="0"/>
              </a:rPr>
              <a:t>, </a:t>
            </a:r>
            <a:r>
              <a:rPr lang="en-US" altLang="en-US" sz="1200" dirty="0" err="1">
                <a:latin typeface="Arial" panose="020B0604020202020204" pitchFamily="34" charset="0"/>
              </a:rPr>
              <a:t>y_train</a:t>
            </a:r>
            <a:r>
              <a:rPr lang="en-US" altLang="en-US" sz="1200" dirty="0"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444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B839-A435-AE64-4582-AF5BE7C8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61FD-62B6-1734-F06F-765792C8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913" y="255597"/>
            <a:ext cx="5415563" cy="768217"/>
          </a:xfrm>
        </p:spPr>
        <p:txBody>
          <a:bodyPr>
            <a:noAutofit/>
          </a:bodyPr>
          <a:lstStyle/>
          <a:p>
            <a:pPr algn="ctr"/>
            <a:r>
              <a:rPr lang="en-IN" sz="3200" dirty="0"/>
              <a:t>Making Predictions</a:t>
            </a:r>
            <a:endParaRPr lang="en-US" sz="320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46ED632-CC78-1E2A-5A62-5C34F35B9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490833"/>
            <a:ext cx="8994371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# Predict salary for the test data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predictions = </a:t>
            </a:r>
            <a:r>
              <a:rPr lang="en-US" altLang="en-US" sz="1200" dirty="0" err="1">
                <a:latin typeface="Arial" panose="020B0604020202020204" pitchFamily="34" charset="0"/>
              </a:rPr>
              <a:t>model.predict</a:t>
            </a:r>
            <a:r>
              <a:rPr lang="en-US" altLang="en-US" sz="1200" dirty="0"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latin typeface="Arial" panose="020B0604020202020204" pitchFamily="34" charset="0"/>
              </a:rPr>
              <a:t>X_test</a:t>
            </a:r>
            <a:r>
              <a:rPr lang="en-US" altLang="en-US" sz="1200" dirty="0"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output = </a:t>
            </a:r>
            <a:r>
              <a:rPr lang="en-US" altLang="en-US" sz="1200" dirty="0" err="1">
                <a:latin typeface="Arial" panose="020B0604020202020204" pitchFamily="34" charset="0"/>
              </a:rPr>
              <a:t>pd.DataFrame</a:t>
            </a:r>
            <a:r>
              <a:rPr lang="en-US" altLang="en-US" sz="1200" dirty="0">
                <a:latin typeface="Arial" panose="020B0604020202020204" pitchFamily="34" charset="0"/>
              </a:rPr>
              <a:t>({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    "</a:t>
            </a:r>
            <a:r>
              <a:rPr lang="en-US" altLang="en-US" sz="1200" dirty="0" err="1">
                <a:latin typeface="Arial" panose="020B0604020202020204" pitchFamily="34" charset="0"/>
              </a:rPr>
              <a:t>YearsExperience</a:t>
            </a:r>
            <a:r>
              <a:rPr lang="en-US" altLang="en-US" sz="1200" dirty="0">
                <a:latin typeface="Arial" panose="020B0604020202020204" pitchFamily="34" charset="0"/>
              </a:rPr>
              <a:t>": </a:t>
            </a:r>
            <a:r>
              <a:rPr lang="en-US" altLang="en-US" sz="1200" dirty="0" err="1">
                <a:latin typeface="Arial" panose="020B0604020202020204" pitchFamily="34" charset="0"/>
              </a:rPr>
              <a:t>X_test</a:t>
            </a:r>
            <a:r>
              <a:rPr lang="en-US" altLang="en-US" sz="1200" dirty="0">
                <a:latin typeface="Arial" panose="020B0604020202020204" pitchFamily="34" charset="0"/>
              </a:rPr>
              <a:t>["</a:t>
            </a:r>
            <a:r>
              <a:rPr lang="en-US" altLang="en-US" sz="1200" dirty="0" err="1">
                <a:latin typeface="Arial" panose="020B0604020202020204" pitchFamily="34" charset="0"/>
              </a:rPr>
              <a:t>YearsExperience</a:t>
            </a:r>
            <a:r>
              <a:rPr lang="en-US" altLang="en-US" sz="1200" dirty="0">
                <a:latin typeface="Arial" panose="020B0604020202020204" pitchFamily="34" charset="0"/>
              </a:rPr>
              <a:t>"],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    "Actual Salary": </a:t>
            </a:r>
            <a:r>
              <a:rPr lang="en-US" altLang="en-US" sz="1200" dirty="0" err="1">
                <a:latin typeface="Arial" panose="020B0604020202020204" pitchFamily="34" charset="0"/>
              </a:rPr>
              <a:t>y_test</a:t>
            </a:r>
            <a:r>
              <a:rPr lang="en-US" altLang="en-US" sz="1200" dirty="0">
                <a:latin typeface="Arial" panose="020B0604020202020204" pitchFamily="34" charset="0"/>
              </a:rPr>
              <a:t>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    "Predicted Salary": predictions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})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96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BD8E-691F-AACB-D28E-1B690753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6F2A-0BE4-F081-90F5-2659B381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913" y="255597"/>
            <a:ext cx="5415563" cy="768217"/>
          </a:xfrm>
        </p:spPr>
        <p:txBody>
          <a:bodyPr>
            <a:noAutofit/>
          </a:bodyPr>
          <a:lstStyle/>
          <a:p>
            <a:pPr algn="ctr"/>
            <a:r>
              <a:rPr lang="en-IN" sz="3200" dirty="0"/>
              <a:t>Graph Visualization Code</a:t>
            </a:r>
            <a:endParaRPr lang="en-US" sz="320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F4725CE-7357-AC45-B8B4-507127CDDA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490833"/>
            <a:ext cx="8994371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# Predict salary for the test data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predictions = </a:t>
            </a:r>
            <a:r>
              <a:rPr lang="en-US" altLang="en-US" sz="1200" dirty="0" err="1">
                <a:latin typeface="Arial" panose="020B0604020202020204" pitchFamily="34" charset="0"/>
              </a:rPr>
              <a:t>model.predict</a:t>
            </a:r>
            <a:r>
              <a:rPr lang="en-US" altLang="en-US" sz="1200" dirty="0"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latin typeface="Arial" panose="020B0604020202020204" pitchFamily="34" charset="0"/>
              </a:rPr>
              <a:t>X_test</a:t>
            </a:r>
            <a:r>
              <a:rPr lang="en-US" altLang="en-US" sz="1200" dirty="0"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output = </a:t>
            </a:r>
            <a:r>
              <a:rPr lang="en-US" altLang="en-US" sz="1200" dirty="0" err="1">
                <a:latin typeface="Arial" panose="020B0604020202020204" pitchFamily="34" charset="0"/>
              </a:rPr>
              <a:t>pd.DataFrame</a:t>
            </a:r>
            <a:r>
              <a:rPr lang="en-US" altLang="en-US" sz="1200" dirty="0">
                <a:latin typeface="Arial" panose="020B0604020202020204" pitchFamily="34" charset="0"/>
              </a:rPr>
              <a:t>({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    "</a:t>
            </a:r>
            <a:r>
              <a:rPr lang="en-US" altLang="en-US" sz="1200" dirty="0" err="1">
                <a:latin typeface="Arial" panose="020B0604020202020204" pitchFamily="34" charset="0"/>
              </a:rPr>
              <a:t>YearsExperience</a:t>
            </a:r>
            <a:r>
              <a:rPr lang="en-US" altLang="en-US" sz="1200" dirty="0">
                <a:latin typeface="Arial" panose="020B0604020202020204" pitchFamily="34" charset="0"/>
              </a:rPr>
              <a:t>": </a:t>
            </a:r>
            <a:r>
              <a:rPr lang="en-US" altLang="en-US" sz="1200" dirty="0" err="1">
                <a:latin typeface="Arial" panose="020B0604020202020204" pitchFamily="34" charset="0"/>
              </a:rPr>
              <a:t>X_test</a:t>
            </a:r>
            <a:r>
              <a:rPr lang="en-US" altLang="en-US" sz="1200" dirty="0">
                <a:latin typeface="Arial" panose="020B0604020202020204" pitchFamily="34" charset="0"/>
              </a:rPr>
              <a:t>["</a:t>
            </a:r>
            <a:r>
              <a:rPr lang="en-US" altLang="en-US" sz="1200" dirty="0" err="1">
                <a:latin typeface="Arial" panose="020B0604020202020204" pitchFamily="34" charset="0"/>
              </a:rPr>
              <a:t>YearsExperience</a:t>
            </a:r>
            <a:r>
              <a:rPr lang="en-US" altLang="en-US" sz="1200" dirty="0">
                <a:latin typeface="Arial" panose="020B0604020202020204" pitchFamily="34" charset="0"/>
              </a:rPr>
              <a:t>"],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    "Actual Salary": </a:t>
            </a:r>
            <a:r>
              <a:rPr lang="en-US" altLang="en-US" sz="1200" dirty="0" err="1">
                <a:latin typeface="Arial" panose="020B0604020202020204" pitchFamily="34" charset="0"/>
              </a:rPr>
              <a:t>y_test</a:t>
            </a:r>
            <a:r>
              <a:rPr lang="en-US" altLang="en-US" sz="1200" dirty="0">
                <a:latin typeface="Arial" panose="020B0604020202020204" pitchFamily="34" charset="0"/>
              </a:rPr>
              <a:t>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    "Predicted Salary": predictions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})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114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73EA2-51B8-882F-C7CE-1BDB2FBBB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626" y="174188"/>
            <a:ext cx="3574747" cy="1090538"/>
          </a:xfrm>
        </p:spPr>
        <p:txBody>
          <a:bodyPr>
            <a:normAutofit/>
          </a:bodyPr>
          <a:lstStyle/>
          <a:p>
            <a:pPr algn="ctr"/>
            <a:r>
              <a:rPr lang="en-IN" sz="2700" dirty="0">
                <a:solidFill>
                  <a:schemeClr val="tx2"/>
                </a:solidFill>
              </a:rPr>
              <a:t>Graph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E88D66-FC09-F8E1-7094-13721ABAE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9731" y="1715840"/>
            <a:ext cx="3251333" cy="25146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2535"/>
            <a:ext cx="4780320" cy="5156035"/>
            <a:chOff x="5818240" y="-1"/>
            <a:chExt cx="6373761" cy="687471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7ABBEE-5B16-33A6-A92F-0F7933CCD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49" y="1645055"/>
            <a:ext cx="3319870" cy="252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9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On-screen Show (16:9)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Salary Prediction using Linear Regression</vt:lpstr>
      <vt:lpstr>Problem Statement</vt:lpstr>
      <vt:lpstr>Objective</vt:lpstr>
      <vt:lpstr>Methodology </vt:lpstr>
      <vt:lpstr>Tools &amp; Technologies</vt:lpstr>
      <vt:lpstr>Expected Output / Results</vt:lpstr>
      <vt:lpstr>Code Snippet 1 (Importing Libraries)</vt:lpstr>
      <vt:lpstr>Code Snippet 2(Splitting Data &amp; Training the Model)</vt:lpstr>
      <vt:lpstr>Making Predictions</vt:lpstr>
      <vt:lpstr>Graph Visualization Code</vt:lpstr>
      <vt:lpstr>Graph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2025-11-15T11:47:20Z</dcterms:modified>
</cp:coreProperties>
</file>